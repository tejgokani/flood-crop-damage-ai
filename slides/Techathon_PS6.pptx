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F233E"/>
                </a:solidFill>
              </a:defRPr>
            </a:pPr>
            <a:r>
              <a:t>AI-Based Crop Flood Damage Assessment</a:t>
            </a:r>
          </a:p>
          <a:p>
            <a:pPr>
              <a:defRPr sz="1800">
                <a:solidFill>
                  <a:srgbClr val="1D4ED8"/>
                </a:solidFill>
              </a:defRPr>
            </a:pPr>
            <a:r>
              <a:t>Agriculture + Disaster Management  ·  Problem Statement 6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Five hybrid deep learning architectures benchmarked on one protocol,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fused with Indian district crop statistics</a:t>
            </a:r>
          </a:p>
          <a:p>
            <a:pPr>
              <a:defRPr sz="800">
                <a:solidFill>
                  <a:srgbClr val="475569"/>
                </a:solidFill>
              </a:defRPr>
            </a:pP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VIT Tech-a-thon · Fall Semester 2026–27</a:t>
            </a:r>
          </a:p>
          <a:p>
            <a:pPr>
              <a:defRPr sz="1200">
                <a:solidFill>
                  <a:srgbClr val="1D4ED8"/>
                </a:solidFill>
              </a:defRPr>
            </a:pPr>
            <a:r>
              <a:t>github.com/tejgokani/flood-crop-damage-ai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E"/>
                </a:solidFill>
              </a:defRPr>
            </a:pPr>
            <a:r>
              <a:t>The problem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Why field surveys fail exactly when they are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233E"/>
                </a:solidFill>
              </a:defRPr>
            </a:pPr>
            <a:r>
              <a:t>• Floods destroy crops across large geographical regions.</a:t>
            </a:r>
          </a:p>
          <a:p>
            <a:pPr>
              <a:spcAft>
                <a:spcPts val="1200"/>
              </a:spcAft>
              <a:defRPr sz="1600">
                <a:solidFill>
                  <a:srgbClr val="0F233E"/>
                </a:solidFill>
              </a:defRPr>
            </a:pPr>
            <a:r>
              <a:t>• Traditional field surveys are impossible immediately after a disaster — roads and agricultural land are inaccessible.</a:t>
            </a:r>
          </a:p>
          <a:p>
            <a:pPr>
              <a:spcAft>
                <a:spcPts val="1200"/>
              </a:spcAft>
              <a:defRPr sz="1600">
                <a:solidFill>
                  <a:srgbClr val="0F233E"/>
                </a:solidFill>
              </a:defRPr>
            </a:pPr>
            <a:r>
              <a:t>• Relief and insurance decisions still have to be made, within days.</a:t>
            </a:r>
          </a:p>
          <a:p>
            <a:pPr>
              <a:spcAft>
                <a:spcPts val="1200"/>
              </a:spcAft>
              <a:defRPr sz="1600">
                <a:solidFill>
                  <a:srgbClr val="0F233E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600">
                <a:solidFill>
                  <a:srgbClr val="0F233E"/>
                </a:solidFill>
              </a:defRPr>
            </a:pPr>
            <a:r>
              <a:t>• Required output: Healthy → Mild → Moderate → Severe crop damage</a:t>
            </a:r>
          </a:p>
          <a:p>
            <a:pPr>
              <a:spcAft>
                <a:spcPts val="1200"/>
              </a:spcAft>
              <a:defRPr sz="1600">
                <a:solidFill>
                  <a:srgbClr val="0F233E"/>
                </a:solidFill>
              </a:defRPr>
            </a:pPr>
            <a:r>
              <a:t>• Required approach: satellite / drone imagery + deep learning, five hybrid techniques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E"/>
                </a:solidFill>
              </a:defRPr>
            </a:pPr>
            <a:r>
              <a:t>Objective — derived from six papers' own future work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Every quote below is verbatim from the source paper's Future Work / Limitations section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928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5577840"/>
                <a:gridCol w="3063240"/>
              </a:tblGrid>
              <a:tr h="6792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Paper (2026)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Its stated future work — verbatim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What we built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233E"/>
                          </a:solidFill>
                        </a:defRPr>
                      </a:pPr>
                      <a:r>
                        <a:t>FLNet</a:t>
                      </a:r>
                    </a:p>
                    <a:p>
                      <a:r>
                        <a:t>arXiv:2601.03884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233E"/>
                          </a:solidFill>
                        </a:defRPr>
                      </a:pPr>
                      <a:r>
                        <a:t>"…experimenting with state-of-the-art backbones like Transformers"; "handle cloud cover"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233E"/>
                          </a:solidFill>
                        </a:defRPr>
                      </a:pPr>
                      <a:r>
                        <a:t>Swin + 5-model benchmark;</a:t>
                      </a:r>
                    </a:p>
                    <a:p>
                      <a:r>
                        <a:t>SAR instead of optical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233E"/>
                          </a:solidFill>
                        </a:defRPr>
                      </a:pPr>
                      <a:r>
                        <a:t>Swin flood scene</a:t>
                      </a:r>
                    </a:p>
                    <a:p>
                      <a:r>
                        <a:t>Sci Rep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233E"/>
                          </a:solidFill>
                        </a:defRPr>
                      </a:pPr>
                      <a:r>
                        <a:t>"combining temporal modeling…"; "future research will concentrate on incorporating multi-spectral or hydrological inputs"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233E"/>
                          </a:solidFill>
                        </a:defRPr>
                      </a:pPr>
                      <a:r>
                        <a:t>CNN+LSTM;</a:t>
                      </a:r>
                    </a:p>
                    <a:p>
                      <a:r>
                        <a:t>Sentinel-1 SAR not RGB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233E"/>
                          </a:solidFill>
                        </a:defRPr>
                      </a:pPr>
                      <a:r>
                        <a:t>Physics-guided U-Net+FNO</a:t>
                      </a:r>
                    </a:p>
                    <a:p>
                      <a:r>
                        <a:t>RadarConf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233E"/>
                          </a:solidFill>
                        </a:defRPr>
                      </a:pPr>
                      <a:r>
                        <a:t>"relaxing flow assumptions, optimizing memory usage, and enhancing regularization"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233E"/>
                          </a:solidFill>
                        </a:defRPr>
                      </a:pPr>
                      <a:r>
                        <a:t>Automatic over/under-fit</a:t>
                      </a:r>
                    </a:p>
                    <a:p>
                      <a:r>
                        <a:t>correction; capped compute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233E"/>
                          </a:solidFill>
                        </a:defRPr>
                      </a:pPr>
                      <a:r>
                        <a:t>Explainable SAR CNN/Transformer</a:t>
                      </a:r>
                    </a:p>
                    <a:p>
                      <a:r>
                        <a:t>arXiv:2606.16302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233E"/>
                          </a:solidFill>
                        </a:defRPr>
                      </a:pPr>
                      <a:r>
                        <a:t>"incorporating multi-temporal SAR data, in which pre-flood and post-flood images are jointly analyzed"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233E"/>
                          </a:solidFill>
                        </a:defRPr>
                      </a:pPr>
                      <a:r>
                        <a:t>Real pre/post pairs;</a:t>
                      </a:r>
                    </a:p>
                    <a:p>
                      <a:r>
                        <a:t>permanent water subtracted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233E"/>
                          </a:solidFill>
                        </a:defRPr>
                      </a:pPr>
                      <a:r>
                        <a:t>TDAVM-UNet</a:t>
                      </a:r>
                    </a:p>
                    <a:p>
                      <a:r>
                        <a:t>Frontiers Plant Sci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233E"/>
                          </a:solidFill>
                        </a:defRPr>
                      </a:pPr>
                      <a:r>
                        <a:t>"Future work: dataset expansion, domain adaptation, edge deployment…"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233E"/>
                          </a:solidFill>
                        </a:defRPr>
                      </a:pPr>
                      <a:r>
                        <a:t>GAN augmentation;</a:t>
                      </a:r>
                    </a:p>
                    <a:p>
                      <a:r>
                        <a:t>progressive data tiering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233E"/>
                          </a:solidFill>
                        </a:defRPr>
                      </a:pPr>
                      <a:r>
                        <a:t>Climate-informed cropland</a:t>
                      </a:r>
                    </a:p>
                    <a:p>
                      <a:r>
                        <a:t>Sci Rep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233E"/>
                          </a:solidFill>
                        </a:defRPr>
                      </a:pPr>
                      <a:r>
                        <a:t>"…can be used to study climate change impacts on the data-scarce, critical flood zones"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233E"/>
                          </a:solidFill>
                        </a:defRPr>
                      </a:pPr>
                      <a:r>
                        <a:t>Indian district crop fusion</a:t>
                      </a:r>
                    </a:p>
                    <a:p>
                      <a:r>
                        <a:t>(a data-scarce flood zone)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E"/>
                </a:solidFill>
              </a:defRPr>
            </a:pPr>
            <a:r>
              <a:t>The objective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i="1">
                <a:solidFill>
                  <a:srgbClr val="0F233E"/>
                </a:solidFill>
              </a:defRPr>
            </a:pPr>
            <a:r>
              <a:t>To design and evaluate a cloud-penetrating, multi-temporal, multi-architecture deep learning system that identifies agricultural fields from Sentinel-1 SAR imagery, classifies flood-induced crop damage as Healthy → Mild → Moderate → Severe, and fuses that severity with district-level Indian agricultural statistics to produce a region-scale crop loss assessment usable when field surveys are impossible.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0F233E"/>
                </a:solidFill>
              </a:defRPr>
            </a:pPr>
            <a:r>
              <a:t>• SO-1  Benchmark five hybrids under one identical protocol            → gap G3</a:t>
            </a:r>
          </a:p>
          <a:p>
            <a:pPr>
              <a:spcAft>
                <a:spcPts val="900"/>
              </a:spcAft>
              <a:defRPr sz="1400">
                <a:solidFill>
                  <a:srgbClr val="0F233E"/>
                </a:solidFill>
              </a:defRPr>
            </a:pPr>
            <a:r>
              <a:t>• SO-2  Overcome data scarcity without touching evaluation integrity   → gap G1</a:t>
            </a:r>
          </a:p>
          <a:p>
            <a:pPr>
              <a:spcAft>
                <a:spcPts val="900"/>
              </a:spcAft>
              <a:defRPr sz="1400">
                <a:solidFill>
                  <a:srgbClr val="0F233E"/>
                </a:solidFill>
              </a:defRPr>
            </a:pPr>
            <a:r>
              <a:t>• SO-3  Model flood evolution over time, not a single snapshot         → gap G2</a:t>
            </a:r>
          </a:p>
          <a:p>
            <a:pPr>
              <a:spcAft>
                <a:spcPts val="900"/>
              </a:spcAft>
              <a:defRPr sz="1400">
                <a:solidFill>
                  <a:srgbClr val="0F233E"/>
                </a:solidFill>
              </a:defRPr>
            </a:pPr>
            <a:r>
              <a:t>• SO-4  Fuse imagery with real regional agricultural context           → gap G4</a:t>
            </a:r>
          </a:p>
          <a:p>
            <a:pPr>
              <a:spcAft>
                <a:spcPts val="900"/>
              </a:spcAft>
              <a:defRPr sz="1400">
                <a:solidFill>
                  <a:srgbClr val="0F233E"/>
                </a:solidFill>
              </a:defRPr>
            </a:pPr>
            <a:r>
              <a:t>• SO-5  Make regularisation automatic and keep compute feasible        → gap G6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E"/>
                </a:solidFill>
              </a:defRPr>
            </a:pPr>
            <a:r>
              <a:t>Flow chart of the proposed work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Both prescribed sequences, implemented in the given order</a:t>
            </a:r>
          </a:p>
        </p:txBody>
      </p:sp>
      <p:pic>
        <p:nvPicPr>
          <p:cNvPr id="3" name="Picture 2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43000"/>
            <a:ext cx="6913075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E"/>
                </a:solidFill>
              </a:defRPr>
            </a:pPr>
            <a:r>
              <a:t>Compliance with the prescribed sequence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Every step maps to a function that actually runs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035040"/>
                <a:gridCol w="4572000"/>
              </a:tblGrid>
              <a:tr h="3823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Implemented in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Load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data/etci.py · data/india_agri.py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Data preprocessing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preprocess/transforms.py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Data leakage checks — target · duplicate · suspicious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preprocess/leakage.py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CLAHE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preprocess/clahe.py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Split / 10-fold cross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splits.py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GAN augmentation / SMOTE — TRAINING DATA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augment/gan.py · augment/smote.py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Initial model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train/loop.py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Overfitting / underfitting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train/diagnostics.py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Apply correction technique and retrain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train/correction.py</a:t>
                      </a:r>
                    </a:p>
                  </a:txBody>
                  <a:tcPr/>
                </a:tc>
              </a:tr>
              <a:tr h="3823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Final test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eval/metrics.py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B45309"/>
                </a:solidFill>
              </a:defRPr>
            </a:pPr>
            <a:r>
              <a:t>Why augmentation comes after the split: SMOTE interpolates between neighbours, so fitting it before the split lets a test row be interpolated into a training row — the score then measures memorisation. tests/test_no_leakage.py asserts val/test are never resampled.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E"/>
                </a:solidFill>
              </a:defRPr>
            </a:pPr>
            <a:r>
              <a:t>Two hybrid architectures, developed in depth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All five were implemented and benchmarked; two were carried forward. Shared decoder and head.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928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2560320"/>
                <a:gridCol w="3017520"/>
                <a:gridCol w="2971800"/>
              </a:tblGrid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Encoder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Why this one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33E"/>
                          </a:solidFill>
                        </a:defRPr>
                      </a:pPr>
                      <a:r>
                        <a:t>YOLO12 + U-Net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33E"/>
                          </a:solidFill>
                        </a:defRPr>
                      </a:pPr>
                      <a:r>
                        <a:t>5.5M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33E"/>
                          </a:solidFill>
                        </a:defRPr>
                      </a:pPr>
                      <a:r>
                        <a:t>R-ELAN + area attention</a:t>
                      </a:r>
                    </a:p>
                    <a:p>
                      <a:r>
                        <a:t>(implemented natively)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33E"/>
                          </a:solidFill>
                        </a:defRPr>
                      </a:pPr>
                      <a:r>
                        <a:t>6-channel change stack</a:t>
                      </a:r>
                    </a:p>
                    <a:p>
                      <a:r>
                        <a:t>[post VV,VH,ratio, ΔVV,ΔVH,Δratio]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33E"/>
                          </a:solidFill>
                        </a:defRPr>
                      </a:pPr>
                      <a:r>
                        <a:t>Was the weakest, for a diagnosable</a:t>
                      </a:r>
                    </a:p>
                    <a:p>
                      <a:r>
                        <a:t>reason: from scratch, peaked at epoch 1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33E"/>
                          </a:solidFill>
                        </a:defRPr>
                      </a:pPr>
                      <a:r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33E"/>
                          </a:solidFill>
                        </a:defRPr>
                      </a:pPr>
                      <a:r>
                        <a:t>9.0M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33E"/>
                          </a:solidFill>
                        </a:defRPr>
                      </a:pPr>
                      <a:r>
                        <a:t>Shared CNN +</a:t>
                      </a:r>
                    </a:p>
                    <a:p>
                      <a:r>
                        <a:t>ConvLSTM at every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33E"/>
                          </a:solidFill>
                        </a:defRPr>
                      </a:pPr>
                      <a:r>
                        <a:t>Ordered pre/post pair</a:t>
                      </a:r>
                    </a:p>
                    <a:p>
                      <a:r>
                        <a:t>[T=2, 3 channels]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233E"/>
                          </a:solidFill>
                        </a:defRPr>
                      </a:pPr>
                      <a:r>
                        <a:t>The only model of the five that</a:t>
                      </a:r>
                    </a:p>
                    <a:p>
                      <a:r>
                        <a:t>did not overfit (gap +0.093)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5204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50">
                <a:solidFill>
                  <a:srgbClr val="0F233E"/>
                </a:solidFill>
              </a:defRPr>
            </a:pPr>
            <a:r>
              <a:t>• They are architecturally complementary: one reaches the pre→post change through an explicit difference channel, the other through recurrence. Comparing those says something; comparing two ImageNet CNNs would not.</a:t>
            </a:r>
          </a:p>
          <a:p>
            <a:pPr>
              <a:spcAft>
                <a:spcPts val="1200"/>
              </a:spcAft>
              <a:defRPr sz="1250">
                <a:solidFill>
                  <a:srgbClr val="0F233E"/>
                </a:solidFill>
              </a:defRPr>
            </a:pPr>
            <a:r>
              <a:t>• The other three (ResNet+U-Net, EfficientNet+Attention, Swin+U-Net) remain in the repo with their benchmarked results archived — this is depth over breadth, stated up front.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E"/>
                </a:solidFill>
              </a:defRPr>
            </a:pPr>
            <a:r>
              <a:t>The problem was memorisation, not architecture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Train-val macro-F1 gap in the five-model benchmark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5394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396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Swin + U-Net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+0.350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memorising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EfficientNet +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+0.319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memorising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ResNet + U-Net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+0.292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memorising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YOLO12 + U-Net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+0.185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memorising — peaked at epoch 1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+0.093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the only healthy model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309360" y="141732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233E"/>
                </a:solidFill>
              </a:defRPr>
            </a:pPr>
            <a:r>
              <a:t>• 5-fold cross validation — every tile scored out-of-fold</a:t>
            </a:r>
          </a:p>
          <a:p>
            <a:pPr>
              <a:spcAft>
                <a:spcPts val="700"/>
              </a:spcAft>
              <a:defRPr sz="1200">
                <a:solidFill>
                  <a:srgbClr val="0F233E"/>
                </a:solidFill>
              </a:defRPr>
            </a:pPr>
            <a:r>
              <a:t>• Change-detection input (the static scene cancels)</a:t>
            </a:r>
          </a:p>
          <a:p>
            <a:pPr>
              <a:spcAft>
                <a:spcPts val="700"/>
              </a:spcAft>
              <a:defRPr sz="1200">
                <a:solidFill>
                  <a:srgbClr val="0F233E"/>
                </a:solidFill>
              </a:defRPr>
            </a:pPr>
            <a:r>
              <a:t>• YOLO12 narrowed 9.8M → 5.5M</a:t>
            </a:r>
          </a:p>
          <a:p>
            <a:pPr>
              <a:spcAft>
                <a:spcPts val="700"/>
              </a:spcAft>
              <a:defRPr sz="1200">
                <a:solidFill>
                  <a:srgbClr val="0F233E"/>
                </a:solidFill>
              </a:defRPr>
            </a:pPr>
            <a:r>
              <a:t>• Flood-fraction regression loss</a:t>
            </a:r>
          </a:p>
          <a:p>
            <a:pPr>
              <a:spcAft>
                <a:spcPts val="700"/>
              </a:spcAft>
              <a:defRPr sz="1200">
                <a:solidFill>
                  <a:srgbClr val="0F233E"/>
                </a:solidFill>
              </a:defRPr>
            </a:pPr>
            <a:r>
              <a:t>• Dihedral augmentation (8×) + crop + coarse dropout</a:t>
            </a:r>
          </a:p>
          <a:p>
            <a:pPr>
              <a:spcAft>
                <a:spcPts val="700"/>
              </a:spcAft>
              <a:defRPr sz="1200">
                <a:solidFill>
                  <a:srgbClr val="0F233E"/>
                </a:solidFill>
              </a:defRPr>
            </a:pPr>
            <a:r>
              <a:t>• Regularisation raised at the start, not reactively</a:t>
            </a:r>
          </a:p>
          <a:p>
            <a:pPr>
              <a:spcAft>
                <a:spcPts val="700"/>
              </a:spcAft>
              <a:defRPr sz="1200">
                <a:solidFill>
                  <a:srgbClr val="0F233E"/>
                </a:solidFill>
              </a:defRPr>
            </a:pPr>
            <a:r>
              <a:t>• Frequency-aware sampling (α = 0.5)</a:t>
            </a:r>
          </a:p>
          <a:p>
            <a:pPr>
              <a:spcAft>
                <a:spcPts val="700"/>
              </a:spcAft>
              <a:defRPr sz="1200">
                <a:solidFill>
                  <a:srgbClr val="0F233E"/>
                </a:solidFill>
              </a:defRPr>
            </a:pPr>
            <a:r>
              <a:t>• Temperature-scaled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B45309"/>
                </a:solidFill>
              </a:defRPr>
            </a:pPr>
            <a:r>
              <a:t>Note what is NOT on that list: training longer. A model that peaks at epoch 1 does not improve at epoch 40. The freed compute bought better estimates and stronger regularisation instead.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E"/>
                </a:solidFill>
              </a:defRPr>
            </a:pPr>
            <a:r>
              <a:t>Data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Both sources public, no credentials, nothing bulk-downloaded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233E"/>
                </a:solidFill>
              </a:defRPr>
            </a:pPr>
            <a:r>
              <a:t>• Imagery — ETCI-2021 Sentinel-1 SAR over Bangladesh (Ganges–Brahmaputra delta)</a:t>
            </a:r>
          </a:p>
          <a:p>
            <a:pPr lvl="1"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– 2,032 tiles with a genuine pre/post pair: 2017-03-14 pre-monsoon and 2017-06-06 monsoon flood</a:t>
            </a:r>
          </a:p>
          <a:p>
            <a:pPr lvl="1"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– Each carries VV, VH, a flood mask and a permanent-water mask at both dates</a:t>
            </a:r>
          </a:p>
          <a:p>
            <a:pPr>
              <a:spcAft>
                <a:spcPts val="800"/>
              </a:spcAft>
              <a:defRPr sz="1400">
                <a:solidFill>
                  <a:srgbClr val="0F233E"/>
                </a:solidFill>
              </a:defRPr>
            </a:pPr>
            <a:r>
              <a:t>• Agriculture — ICRISAT district statistics: 310 Indian districts · 23 crops · 2010–2017</a:t>
            </a:r>
          </a:p>
          <a:p>
            <a:pPr lvl="1"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– Label from per-district yield anomaly → a real 10.9 : 1 class imbalance, which is what justifies SMOTE</a:t>
            </a:r>
          </a:p>
          <a:p>
            <a:pPr>
              <a:spcAft>
                <a:spcPts val="800"/>
              </a:spcAft>
              <a:defRPr sz="1400">
                <a:solidFill>
                  <a:srgbClr val="0F233E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0F233E"/>
                </a:solidFill>
              </a:defRPr>
            </a:pPr>
            <a:r>
              <a:t>• Severity = net flood fraction (flood − permanent water), binned at 2% / 10% / 33%</a:t>
            </a:r>
          </a:p>
          <a:p>
            <a:pPr lvl="1"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– The 33% boundary is the Indian NDRF/SDRF crop-loss relief threshold — not a round number</a:t>
            </a:r>
          </a:p>
          <a:p>
            <a:pPr lvl="1">
              <a:spcAft>
                <a:spcPts val="800"/>
              </a:spcAft>
              <a:defRPr sz="1200">
                <a:solidFill>
                  <a:srgbClr val="475569"/>
                </a:solidFill>
              </a:defRPr>
            </a:pPr>
            <a:r>
              <a:t>– Permanent water is subtracted because a tile containing a river is not a damaged tile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E"/>
                </a:solidFill>
              </a:defRPr>
            </a:pPr>
            <a:r>
              <a:t>Progressive data scaling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Start small; step up only as far as the machine demonstrably sustains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65836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441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Tiles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T0_smoke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128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Pipeline proof — offline, runs in CI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T1_tiny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128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First real data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T2_small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192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First meaningful signal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T3_medium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256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Target tier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T4_large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256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Only if T3 finished comfortably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98079" y="1463040"/>
            <a:ext cx="4206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0F233E"/>
                </a:solidFill>
              </a:defRPr>
            </a:pPr>
            <a:r>
              <a:t>• After each tier we measure peak RSS, free disk and seconds/epoch</a:t>
            </a:r>
          </a:p>
          <a:p>
            <a:pPr>
              <a:spcAft>
                <a:spcPts val="1000"/>
              </a:spcAft>
              <a:defRPr sz="1200">
                <a:solidFill>
                  <a:srgbClr val="0F233E"/>
                </a:solidFill>
              </a:defRPr>
            </a:pPr>
            <a:r>
              <a:t>• Advance only if the next tier stays under a 6 GB disk floor, 70% of RAM and the time budget</a:t>
            </a:r>
          </a:p>
          <a:p>
            <a:pPr>
              <a:spcAft>
                <a:spcPts val="1000"/>
              </a:spcAft>
              <a:defRPr sz="1200">
                <a:solidFill>
                  <a:srgbClr val="0F233E"/>
                </a:solidFill>
              </a:defRPr>
            </a:pPr>
            <a:r>
              <a:t>• Otherwise stop at the last good tier and record why — in reports/scaling_log.json</a:t>
            </a:r>
          </a:p>
          <a:p>
            <a:pPr>
              <a:spcAft>
                <a:spcPts val="1000"/>
              </a:spcAft>
              <a:defRPr sz="1200">
                <a:solidFill>
                  <a:srgbClr val="0F233E"/>
                </a:solidFill>
              </a:defRPr>
            </a:pPr>
            <a:r>
              <a:t>• A complete five-model table exists after the first tier, so there is always something to show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E"/>
                </a:solidFill>
              </a:defRPr>
            </a:pPr>
            <a:r>
              <a:t>Results — 5-fold cross validation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Every one of 900 tiles scored exactly once by a model that never saw 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92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1605"/>
                <a:gridCol w="1411605"/>
                <a:gridCol w="1411605"/>
                <a:gridCol w="1411605"/>
                <a:gridCol w="1411605"/>
                <a:gridCol w="1411605"/>
                <a:gridCol w="1411605"/>
                <a:gridCol w="1411605"/>
              </a:tblGrid>
              <a:tr h="4572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OOF macro-F1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fold σ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Cohen's κ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Flood IoU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Train-val gap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YOLO12 + U-Net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5.5M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0.462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±0.048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0.713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0.388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0.205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-0.076 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9.0M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0.459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±0.041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0.688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0.391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0.190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-0.096 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788920"/>
            <a:ext cx="11292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Train-val gap is the anti-overfitting check: ≤ 0.10 is healthy, and negative means validation scored above training. The five-model baseline ran at +0.19 to +0.35.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383280"/>
          <a:ext cx="112928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568"/>
                <a:gridCol w="2258568"/>
                <a:gridCol w="2258568"/>
                <a:gridCol w="2258568"/>
                <a:gridCol w="2258568"/>
              </a:tblGrid>
              <a:tr h="3962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Within-1-class accuracy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Ordinal MAE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Binary damage accuracy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Binary damage F1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YOLO12 + U-Net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0.951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0.338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0.798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0.664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0.934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0.383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0.790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233E"/>
                          </a:solidFill>
                        </a:defRPr>
                      </a:pPr>
                      <a:r>
                        <a:t>0.692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09160"/>
            <a:ext cx="11292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</a:defRPr>
            </a:pPr>
            <a:r>
              <a:t>Supplementary, not a replacement. Macro-F1 treats the four classes as unrelated, so calling a Severe tile Moderate scores as badly as calling it Healthy — and every Severe miss in our confusion matrices lands on Moderate, the adjacent class.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E"/>
                </a:solidFill>
              </a:defRPr>
            </a:pPr>
            <a:r>
              <a:t>Confidence calibration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Temperature scaling, fitted on inner folds only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267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Hybrid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Temperature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ECE before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ECE after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Mean confidence before → after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Folds accepted</a:t>
                      </a:r>
                    </a:p>
                  </a:txBody>
                  <a:tcPr>
                    <a:solidFill>
                      <a:srgbClr val="0F233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YOLO12 + U-Net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0.476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0.163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0.078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61.0% → 76.9%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CNN +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0.521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0.157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0.067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59.4% → 72.7%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233E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29260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0F233E"/>
                </a:solidFill>
              </a:defRPr>
            </a:pPr>
            <a:r>
              <a:t>• An uncalibrated softmax is a score that sums to one, not a probability.</a:t>
            </a:r>
          </a:p>
          <a:p>
            <a:pPr>
              <a:spcAft>
                <a:spcPts val="1100"/>
              </a:spcAft>
              <a:defRPr sz="1300">
                <a:solidFill>
                  <a:srgbClr val="0F233E"/>
                </a:solidFill>
              </a:defRPr>
            </a:pPr>
            <a:r>
              <a:t>• Temperature scaling divides the logits by one learned scalar — it is argmax-invariant, so it cannot change accuracy, only how honest the confidence is.</a:t>
            </a:r>
          </a:p>
          <a:p>
            <a:pPr>
              <a:spcAft>
                <a:spcPts val="1100"/>
              </a:spcAft>
              <a:defRPr sz="1300">
                <a:solidFill>
                  <a:srgbClr val="0F233E"/>
                </a:solidFill>
              </a:defRPr>
            </a:pPr>
            <a:r>
              <a:t>• Fitted on an inner validation slice of each training fold, never on the held-out fold.</a:t>
            </a:r>
          </a:p>
          <a:p>
            <a:pPr>
              <a:spcAft>
                <a:spcPts val="1100"/>
              </a:spcAft>
              <a:defRPr sz="1300">
                <a:solidFill>
                  <a:srgbClr val="0F233E"/>
                </a:solidFill>
              </a:defRPr>
            </a:pPr>
            <a:r>
              <a:t>• A fold's fit is accepted only if it cuts calibration error by at least 20%; otherwise the temperature resets to 1.0 and nothing is applied.</a:t>
            </a:r>
          </a:p>
          <a:p>
            <a:pPr>
              <a:spcAft>
                <a:spcPts val="1100"/>
              </a:spcAft>
              <a:defRPr sz="1300">
                <a:solidFill>
                  <a:srgbClr val="0F233E"/>
                </a:solidFill>
              </a:defRPr>
            </a:pPr>
            <a:r>
              <a:t>• Paper 4 of our review names temperature scaling as its first future-work item.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E"/>
                </a:solidFill>
              </a:defRPr>
            </a:pPr>
            <a:r>
              <a:t>Generalisation gap per fold — below the line is healthy</a:t>
            </a:r>
          </a:p>
        </p:txBody>
      </p:sp>
      <p:pic>
        <p:nvPicPr>
          <p:cNvPr id="3" name="Picture 2" descr="cv_g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0881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E"/>
                </a:solidFill>
              </a:defRPr>
            </a:pPr>
            <a:r>
              <a:t>Out-of-fold confusion over every tile in the dataset</a:t>
            </a:r>
          </a:p>
        </p:txBody>
      </p:sp>
      <p:pic>
        <p:nvPicPr>
          <p:cNvPr id="3" name="Picture 2" descr="cv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0881360" cy="4922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E"/>
                </a:solidFill>
              </a:defRPr>
            </a:pPr>
            <a:r>
              <a:t>Predictions across severity classes</a:t>
            </a:r>
          </a:p>
        </p:txBody>
      </p:sp>
      <p:pic>
        <p:nvPicPr>
          <p:cNvPr id="3" name="Picture 2" descr="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0881360" cy="102117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E"/>
                </a:solidFill>
              </a:defRPr>
            </a:pPr>
            <a:r>
              <a:t>Working demo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streamlit run app/streamlit_app.py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233E"/>
                </a:solidFill>
              </a:defRPr>
            </a:pPr>
            <a:r>
              <a:t>• Select or upload a SAR tile → predicted damage mask overlaid on the backscatter image</a:t>
            </a:r>
          </a:p>
          <a:p>
            <a:pPr>
              <a:spcAft>
                <a:spcPts val="1000"/>
              </a:spcAft>
              <a:defRPr sz="1400">
                <a:solidFill>
                  <a:srgbClr val="0F233E"/>
                </a:solidFill>
              </a:defRPr>
            </a:pPr>
            <a:r>
              <a:t>• Severity with confidence, net inundated fraction, permanent water shown separately</a:t>
            </a:r>
          </a:p>
          <a:p>
            <a:pPr>
              <a:spcAft>
                <a:spcPts val="1000"/>
              </a:spcAft>
              <a:defRPr sz="1400">
                <a:solidFill>
                  <a:srgbClr val="0F233E"/>
                </a:solidFill>
              </a:defRPr>
            </a:pPr>
            <a:r>
              <a:t>• District loss estimate: affected hectares, production loss in tonnes, indicative value in ₹ crore</a:t>
            </a:r>
          </a:p>
          <a:p>
            <a:pPr>
              <a:spcAft>
                <a:spcPts val="1000"/>
              </a:spcAft>
              <a:defRPr sz="1400">
                <a:solidFill>
                  <a:srgbClr val="0F233E"/>
                </a:solidFill>
              </a:defRPr>
            </a:pPr>
            <a:r>
              <a:t>• Fusion panel showing whether imagery and district history agree, and whether severity was escalated</a:t>
            </a:r>
          </a:p>
          <a:p>
            <a:pPr>
              <a:spcAft>
                <a:spcPts val="1000"/>
              </a:spcAft>
              <a:defRPr sz="1400">
                <a:solidFill>
                  <a:srgbClr val="0F233E"/>
                </a:solidFill>
              </a:defRPr>
            </a:pPr>
            <a:r>
              <a:t>• </a:t>
            </a:r>
          </a:p>
          <a:p>
            <a:pPr>
              <a:spcAft>
                <a:spcPts val="1000"/>
              </a:spcAft>
              <a:defRPr sz="1400">
                <a:solidFill>
                  <a:srgbClr val="0F233E"/>
                </a:solidFill>
              </a:defRPr>
            </a:pPr>
            <a:r>
              <a:t>• Runs with or without a trained checkpoint — the rule-based path still demonstrates preprocessing, the severity rule and the fusion arithmetic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E"/>
                </a:solidFill>
              </a:defRPr>
            </a:pPr>
            <a:r>
              <a:t>Honest limitations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Stated because they are the questions worth asking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0F233E"/>
                </a:solidFill>
              </a:defRPr>
            </a:pPr>
            <a:r>
              <a:t>• Agricultural field delineation is NOT implemented. The brief asks to identify agricultural fields; this system segments water. ETCI-2021 has no parcel labels, so YOLO12's detection head is present but unsupervised, and the crop context comes from district statistics. This is the largest gap against the brief.</a:t>
            </a:r>
          </a:p>
          <a:p>
            <a:pPr>
              <a:spcAft>
                <a:spcPts val="900"/>
              </a:spcAft>
              <a:defRPr sz="1150">
                <a:solidFill>
                  <a:srgbClr val="0F233E"/>
                </a:solidFill>
              </a:defRPr>
            </a:pPr>
            <a:r>
              <a:t>• Severity is derived from flood extent, not measured agronomic damage — ETCI-2021 has flood masks, not crop-damage ground truth. Validation against field-surveyed loss is NOT claimed.</a:t>
            </a:r>
          </a:p>
          <a:p>
            <a:pPr>
              <a:spcAft>
                <a:spcPts val="900"/>
              </a:spcAft>
              <a:defRPr sz="1150">
                <a:solidFill>
                  <a:srgbClr val="0F233E"/>
                </a:solidFill>
              </a:defRPr>
            </a:pPr>
            <a:r>
              <a:t>• Only 20 Severe tiles exist in the whole pool (0.98%). Cross validation scores all 20 rather than the ~3 a single holdout would, but it remains the corpus ceiling.</a:t>
            </a:r>
          </a:p>
          <a:p>
            <a:pPr>
              <a:spcAft>
                <a:spcPts val="900"/>
              </a:spcAft>
              <a:defRPr sz="1150">
                <a:solidFill>
                  <a:srgbClr val="0F233E"/>
                </a:solidFill>
              </a:defRPr>
            </a:pPr>
            <a:r>
              <a:t>• Tiers cap Healthy at 45% to make the benchmark usable; the natural 86.9% prior is reported alongside every result, not hidden.</a:t>
            </a:r>
          </a:p>
          <a:p>
            <a:pPr>
              <a:spcAft>
                <a:spcPts val="900"/>
              </a:spcAft>
              <a:defRPr sz="1150">
                <a:solidFill>
                  <a:srgbClr val="0F233E"/>
                </a:solidFill>
              </a:defRPr>
            </a:pPr>
            <a:r>
              <a:t>• Training geography is the Ganges–Brahmaputra delta — a reasonable analogue for eastern India, but cross-region transfer is untested. FLNet states the same limitation about itself.</a:t>
            </a:r>
          </a:p>
          <a:p>
            <a:pPr>
              <a:spcAft>
                <a:spcPts val="900"/>
              </a:spcAft>
              <a:defRPr sz="1150">
                <a:solidFill>
                  <a:srgbClr val="0F233E"/>
                </a:solidFill>
              </a:defRPr>
            </a:pPr>
            <a:r>
              <a:t>• Rupee figures use assumed per-severity loss coefficients, surfaced as parameters rather than fitted values.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E"/>
                </a:solidFill>
              </a:defRPr>
            </a:pPr>
            <a:r>
              <a:t>What remains — the other 40%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0F233E"/>
                </a:solidFill>
              </a:defRPr>
            </a:pPr>
            <a:r>
              <a:t>• Supervised agricultural field delineation — needs a cropland mask or parcel labels</a:t>
            </a:r>
          </a:p>
          <a:p>
            <a:pPr>
              <a:spcAft>
                <a:spcPts val="1300"/>
              </a:spcAft>
              <a:defRPr sz="1500">
                <a:solidFill>
                  <a:srgbClr val="0F233E"/>
                </a:solidFill>
              </a:defRPr>
            </a:pPr>
            <a:r>
              <a:t>• Validation against field-surveyed crop loss (BFCD-22, or state revenue records)</a:t>
            </a:r>
          </a:p>
          <a:p>
            <a:pPr>
              <a:spcAft>
                <a:spcPts val="1300"/>
              </a:spcAft>
              <a:defRPr sz="1500">
                <a:solidFill>
                  <a:srgbClr val="0F233E"/>
                </a:solidFill>
              </a:defRPr>
            </a:pPr>
            <a:r>
              <a:t>• Cross-region transfer to Indian districts, and domain adaptation</a:t>
            </a:r>
          </a:p>
          <a:p>
            <a:pPr>
              <a:spcAft>
                <a:spcPts val="1300"/>
              </a:spcAft>
              <a:defRPr sz="1500">
                <a:solidFill>
                  <a:srgbClr val="0F233E"/>
                </a:solidFill>
              </a:defRPr>
            </a:pPr>
            <a:r>
              <a:t>• Sentinel-1 + Sentinel-2 fusion, as FLNet's future work proposes</a:t>
            </a:r>
          </a:p>
          <a:p>
            <a:pPr>
              <a:spcAft>
                <a:spcPts val="1300"/>
              </a:spcAft>
              <a:defRPr sz="1500">
                <a:solidFill>
                  <a:srgbClr val="0F233E"/>
                </a:solidFill>
              </a:defRPr>
            </a:pPr>
            <a:r>
              <a:t>• Calibration and uncertainty estimates, as the Explainable SAR paper proposes</a:t>
            </a:r>
          </a:p>
          <a:p>
            <a:pPr>
              <a:spcAft>
                <a:spcPts val="1300"/>
              </a:spcAft>
              <a:defRPr sz="1500">
                <a:solidFill>
                  <a:srgbClr val="0F233E"/>
                </a:solidFill>
              </a:defRPr>
            </a:pPr>
            <a:r>
              <a:t>• 10-fold cross validation extended to the image pipeline once compute allows</a:t>
            </a:r>
          </a:p>
          <a:p>
            <a:pPr>
              <a:spcAft>
                <a:spcPts val="1300"/>
              </a:spcAft>
              <a:defRPr sz="1500">
                <a:solidFill>
                  <a:srgbClr val="0F233E"/>
                </a:solidFill>
              </a:defRPr>
            </a:pPr>
            <a:r>
              <a:t>• Higher tiers (T4) and longer schedules on stronger hardware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E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0F233E"/>
                </a:solidFill>
              </a:defRPr>
            </a:pPr>
            <a:r>
              <a:t>• Objective derived from six papers' own stated future work — quoted verbatim, not paraphrased</a:t>
            </a:r>
          </a:p>
          <a:p>
            <a:pPr>
              <a:spcAft>
                <a:spcPts val="1100"/>
              </a:spcAft>
              <a:defRPr sz="1400">
                <a:solidFill>
                  <a:srgbClr val="0F233E"/>
                </a:solidFill>
              </a:defRPr>
            </a:pPr>
            <a:r>
              <a:t>• Both prescribed sequences implemented in full, every step mapped to a function</a:t>
            </a:r>
          </a:p>
          <a:p>
            <a:pPr>
              <a:spcAft>
                <a:spcPts val="1100"/>
              </a:spcAft>
              <a:defRPr sz="1400">
                <a:solidFill>
                  <a:srgbClr val="0F233E"/>
                </a:solidFill>
              </a:defRPr>
            </a:pPr>
            <a:r>
              <a:t>• Five hybrid architectures on one shared protocol — the comparison isolates the encoder</a:t>
            </a:r>
          </a:p>
          <a:p>
            <a:pPr>
              <a:spcAft>
                <a:spcPts val="1100"/>
              </a:spcAft>
              <a:defRPr sz="1400">
                <a:solidFill>
                  <a:srgbClr val="0F233E"/>
                </a:solidFill>
              </a:defRPr>
            </a:pPr>
            <a:r>
              <a:t>• Leakage checks that produce real findings; augmentation confined to the training split by construction</a:t>
            </a:r>
          </a:p>
          <a:p>
            <a:pPr>
              <a:spcAft>
                <a:spcPts val="1100"/>
              </a:spcAft>
              <a:defRPr sz="1400">
                <a:solidFill>
                  <a:srgbClr val="0F233E"/>
                </a:solidFill>
              </a:defRPr>
            </a:pPr>
            <a:r>
              <a:t>• Automatic over/under-fit detection and correction, with before/after recorded</a:t>
            </a:r>
          </a:p>
          <a:p>
            <a:pPr>
              <a:spcAft>
                <a:spcPts val="1100"/>
              </a:spcAft>
              <a:defRPr sz="1400">
                <a:solidFill>
                  <a:srgbClr val="0F233E"/>
                </a:solidFill>
              </a:defRPr>
            </a:pPr>
            <a:r>
              <a:t>• Fusion turns predicted pixels into hectares, tonnes and rupees for a real Indian district</a:t>
            </a:r>
          </a:p>
          <a:p>
            <a:pPr>
              <a:spcAft>
                <a:spcPts val="1100"/>
              </a:spcAft>
              <a:defRPr sz="1400">
                <a:solidFill>
                  <a:srgbClr val="0F233E"/>
                </a:solidFill>
              </a:defRPr>
            </a:pPr>
            <a:r>
              <a:t>• </a:t>
            </a:r>
          </a:p>
          <a:p>
            <a:pPr>
              <a:spcAft>
                <a:spcPts val="1100"/>
              </a:spcAft>
              <a:defRPr sz="1400">
                <a:solidFill>
                  <a:srgbClr val="0F233E"/>
                </a:solidFill>
              </a:defRPr>
            </a:pPr>
            <a:r>
              <a:t>• github.com/tejgokani/flood-crop-damage-ai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